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" charset="1" panose="00000500000000000000"/>
      <p:regular r:id="rId14"/>
    </p:embeddedFont>
    <p:embeddedFont>
      <p:font typeface="Agrandir Bold" charset="1" panose="00000800000000000000"/>
      <p:regular r:id="rId15"/>
    </p:embeddedFont>
    <p:embeddedFont>
      <p:font typeface="Poppins Bold" charset="1" panose="00000800000000000000"/>
      <p:regular r:id="rId16"/>
    </p:embeddedFont>
    <p:embeddedFont>
      <p:font typeface="Glacial Indifference" charset="1" panose="00000000000000000000"/>
      <p:regular r:id="rId17"/>
    </p:embeddedFont>
    <p:embeddedFont>
      <p:font typeface="Glacial Indifferen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67B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89317">
            <a:off x="9198096" y="180812"/>
            <a:ext cx="10450834" cy="10189563"/>
          </a:xfrm>
          <a:custGeom>
            <a:avLst/>
            <a:gdLst/>
            <a:ahLst/>
            <a:cxnLst/>
            <a:rect r="r" b="b" t="t" l="l"/>
            <a:pathLst>
              <a:path h="10189563" w="10450834">
                <a:moveTo>
                  <a:pt x="0" y="0"/>
                </a:moveTo>
                <a:lnTo>
                  <a:pt x="10450834" y="0"/>
                </a:lnTo>
                <a:lnTo>
                  <a:pt x="10450834" y="10189564"/>
                </a:lnTo>
                <a:lnTo>
                  <a:pt x="0" y="10189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144000" cy="10287000"/>
            <a:chOff x="0" y="0"/>
            <a:chExt cx="812800" cy="91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/>
              <a:stretch>
                <a:fillRect l="-11216" t="0" r="-5732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949679" y="2593317"/>
            <a:ext cx="8265639" cy="5100365"/>
            <a:chOff x="0" y="0"/>
            <a:chExt cx="2176958" cy="13433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959" cy="1343306"/>
            </a:xfrm>
            <a:custGeom>
              <a:avLst/>
              <a:gdLst/>
              <a:ahLst/>
              <a:cxnLst/>
              <a:rect r="r" b="b" t="t" l="l"/>
              <a:pathLst>
                <a:path h="1343306" w="2176959">
                  <a:moveTo>
                    <a:pt x="28099" y="0"/>
                  </a:moveTo>
                  <a:lnTo>
                    <a:pt x="2148859" y="0"/>
                  </a:lnTo>
                  <a:cubicBezTo>
                    <a:pt x="2156312" y="0"/>
                    <a:pt x="2163459" y="2960"/>
                    <a:pt x="2168728" y="8230"/>
                  </a:cubicBezTo>
                  <a:cubicBezTo>
                    <a:pt x="2173998" y="13500"/>
                    <a:pt x="2176959" y="20647"/>
                    <a:pt x="2176959" y="28099"/>
                  </a:cubicBezTo>
                  <a:lnTo>
                    <a:pt x="2176959" y="1315207"/>
                  </a:lnTo>
                  <a:cubicBezTo>
                    <a:pt x="2176959" y="1330726"/>
                    <a:pt x="2164378" y="1343306"/>
                    <a:pt x="2148859" y="1343306"/>
                  </a:cubicBezTo>
                  <a:lnTo>
                    <a:pt x="28099" y="1343306"/>
                  </a:lnTo>
                  <a:cubicBezTo>
                    <a:pt x="20647" y="1343306"/>
                    <a:pt x="13500" y="1340346"/>
                    <a:pt x="8230" y="1335076"/>
                  </a:cubicBezTo>
                  <a:cubicBezTo>
                    <a:pt x="2960" y="1329806"/>
                    <a:pt x="0" y="1322659"/>
                    <a:pt x="0" y="1315207"/>
                  </a:cubicBezTo>
                  <a:lnTo>
                    <a:pt x="0" y="28099"/>
                  </a:lnTo>
                  <a:cubicBezTo>
                    <a:pt x="0" y="20647"/>
                    <a:pt x="2960" y="13500"/>
                    <a:pt x="8230" y="8230"/>
                  </a:cubicBezTo>
                  <a:cubicBezTo>
                    <a:pt x="13500" y="2960"/>
                    <a:pt x="20647" y="0"/>
                    <a:pt x="28099" y="0"/>
                  </a:cubicBezTo>
                  <a:close/>
                </a:path>
              </a:pathLst>
            </a:custGeom>
            <a:solidFill>
              <a:srgbClr val="FDECD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958" cy="1400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742202" y="2997371"/>
            <a:ext cx="3517098" cy="3554129"/>
          </a:xfrm>
          <a:custGeom>
            <a:avLst/>
            <a:gdLst/>
            <a:ahLst/>
            <a:cxnLst/>
            <a:rect r="r" b="b" t="t" l="l"/>
            <a:pathLst>
              <a:path h="3554129" w="3517098">
                <a:moveTo>
                  <a:pt x="0" y="0"/>
                </a:moveTo>
                <a:lnTo>
                  <a:pt x="3517098" y="0"/>
                </a:lnTo>
                <a:lnTo>
                  <a:pt x="3517098" y="3554128"/>
                </a:lnTo>
                <a:lnTo>
                  <a:pt x="0" y="3554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298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556064" y="1589044"/>
            <a:ext cx="370323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DECDA"/>
                </a:solidFill>
                <a:latin typeface="Poppins"/>
                <a:ea typeface="Poppins"/>
                <a:cs typeface="Poppins"/>
                <a:sym typeface="Poppins"/>
              </a:rPr>
              <a:t>BRIGHT GROUP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767868">
            <a:off x="13289316" y="1908874"/>
            <a:ext cx="1616156" cy="1633172"/>
          </a:xfrm>
          <a:custGeom>
            <a:avLst/>
            <a:gdLst/>
            <a:ahLst/>
            <a:cxnLst/>
            <a:rect r="r" b="b" t="t" l="l"/>
            <a:pathLst>
              <a:path h="1633172" w="1616156">
                <a:moveTo>
                  <a:pt x="0" y="0"/>
                </a:moveTo>
                <a:lnTo>
                  <a:pt x="1616156" y="0"/>
                </a:lnTo>
                <a:lnTo>
                  <a:pt x="1616156" y="1633172"/>
                </a:lnTo>
                <a:lnTo>
                  <a:pt x="0" y="1633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298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927009">
            <a:off x="15883579" y="6107821"/>
            <a:ext cx="1409066" cy="1423902"/>
          </a:xfrm>
          <a:custGeom>
            <a:avLst/>
            <a:gdLst/>
            <a:ahLst/>
            <a:cxnLst/>
            <a:rect r="r" b="b" t="t" l="l"/>
            <a:pathLst>
              <a:path h="1423902" w="1409066">
                <a:moveTo>
                  <a:pt x="0" y="0"/>
                </a:moveTo>
                <a:lnTo>
                  <a:pt x="1409066" y="0"/>
                </a:lnTo>
                <a:lnTo>
                  <a:pt x="1409066" y="1423902"/>
                </a:lnTo>
                <a:lnTo>
                  <a:pt x="0" y="14239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298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592043">
            <a:off x="8790103" y="6483903"/>
            <a:ext cx="1974537" cy="1995326"/>
          </a:xfrm>
          <a:custGeom>
            <a:avLst/>
            <a:gdLst/>
            <a:ahLst/>
            <a:cxnLst/>
            <a:rect r="r" b="b" t="t" l="l"/>
            <a:pathLst>
              <a:path h="1995326" w="1974537">
                <a:moveTo>
                  <a:pt x="0" y="0"/>
                </a:moveTo>
                <a:lnTo>
                  <a:pt x="1974537" y="0"/>
                </a:lnTo>
                <a:lnTo>
                  <a:pt x="1974537" y="1995326"/>
                </a:lnTo>
                <a:lnTo>
                  <a:pt x="0" y="1995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298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364677" y="2847544"/>
            <a:ext cx="4936450" cy="322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7"/>
              </a:lnSpc>
            </a:pPr>
            <a:r>
              <a:rPr lang="en-US" sz="5855" b="true">
                <a:solidFill>
                  <a:srgbClr val="5D25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COFFEE SHOP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57676" y="6015319"/>
            <a:ext cx="699213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WHERE EVERY CUP TELLS A STORY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95615" y="7817085"/>
            <a:ext cx="290840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>
                <a:solidFill>
                  <a:srgbClr val="FDECDA"/>
                </a:solidFill>
                <a:latin typeface="Poppins"/>
                <a:ea typeface="Poppins"/>
                <a:cs typeface="Poppins"/>
                <a:sym typeface="Poppins"/>
              </a:rPr>
              <a:t>Coffee shop analysis for the CEO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77371" y="8687458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DECDA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77371" y="9045598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DECDA"/>
                </a:solidFill>
                <a:latin typeface="Poppins Bold"/>
                <a:ea typeface="Poppins Bold"/>
                <a:cs typeface="Poppins Bold"/>
                <a:sym typeface="Poppins Bold"/>
              </a:rPr>
              <a:t>Mnqobi Bhebhe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D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42570" y="3215876"/>
            <a:ext cx="8833496" cy="5294251"/>
            <a:chOff x="0" y="0"/>
            <a:chExt cx="1763097" cy="105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3097" cy="1056719"/>
            </a:xfrm>
            <a:custGeom>
              <a:avLst/>
              <a:gdLst/>
              <a:ahLst/>
              <a:cxnLst/>
              <a:rect r="r" b="b" t="t" l="l"/>
              <a:pathLst>
                <a:path h="1056719" w="1763097">
                  <a:moveTo>
                    <a:pt x="1763097" y="30675"/>
                  </a:moveTo>
                  <a:lnTo>
                    <a:pt x="1763097" y="1026044"/>
                  </a:lnTo>
                  <a:cubicBezTo>
                    <a:pt x="1763097" y="1042986"/>
                    <a:pt x="1749363" y="1056719"/>
                    <a:pt x="1732422" y="1056719"/>
                  </a:cubicBezTo>
                  <a:lnTo>
                    <a:pt x="30675" y="1056719"/>
                  </a:lnTo>
                  <a:cubicBezTo>
                    <a:pt x="13734" y="1056719"/>
                    <a:pt x="0" y="1042986"/>
                    <a:pt x="0" y="1026044"/>
                  </a:cubicBezTo>
                  <a:lnTo>
                    <a:pt x="0" y="30675"/>
                  </a:lnTo>
                  <a:cubicBezTo>
                    <a:pt x="0" y="13734"/>
                    <a:pt x="13734" y="0"/>
                    <a:pt x="30675" y="0"/>
                  </a:cubicBezTo>
                  <a:lnTo>
                    <a:pt x="1732422" y="0"/>
                  </a:lnTo>
                  <a:cubicBezTo>
                    <a:pt x="1749363" y="0"/>
                    <a:pt x="1763097" y="13734"/>
                    <a:pt x="1763097" y="30675"/>
                  </a:cubicBezTo>
                  <a:close/>
                </a:path>
              </a:pathLst>
            </a:custGeom>
            <a:solidFill>
              <a:srgbClr val="767B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63097" cy="1113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37604" y="1726101"/>
            <a:ext cx="6725864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D25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78882" y="3376123"/>
            <a:ext cx="8832318" cy="3809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3"/>
              </a:lnSpc>
            </a:pPr>
            <a:r>
              <a:rPr lang="en-US" sz="3116">
                <a:solidFill>
                  <a:srgbClr val="FDEC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1. INTRODUCTION</a:t>
            </a:r>
          </a:p>
          <a:p>
            <a:pPr algn="just">
              <a:lnSpc>
                <a:spcPts val="4363"/>
              </a:lnSpc>
            </a:pPr>
            <a:r>
              <a:rPr lang="en-US" sz="3116">
                <a:solidFill>
                  <a:srgbClr val="FDEC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2. DATA SYSTEMS </a:t>
            </a:r>
          </a:p>
          <a:p>
            <a:pPr algn="just">
              <a:lnSpc>
                <a:spcPts val="4363"/>
              </a:lnSpc>
            </a:pPr>
            <a:r>
              <a:rPr lang="en-US" sz="3116">
                <a:solidFill>
                  <a:srgbClr val="FDEC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3. ANALYSIS   </a:t>
            </a:r>
          </a:p>
          <a:p>
            <a:pPr algn="l" marL="672858" indent="-336429" lvl="1">
              <a:lnSpc>
                <a:spcPts val="4363"/>
              </a:lnSpc>
              <a:buAutoNum type="arabicPeriod" startAt="1"/>
            </a:pPr>
            <a:r>
              <a:rPr lang="en-US" sz="3116">
                <a:solidFill>
                  <a:srgbClr val="FDEC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RECOMMENDATION</a:t>
            </a:r>
          </a:p>
          <a:p>
            <a:pPr algn="just" marL="672858" indent="-336429" lvl="1">
              <a:lnSpc>
                <a:spcPts val="4363"/>
              </a:lnSpc>
              <a:buAutoNum type="arabicPeriod" startAt="1"/>
            </a:pPr>
            <a:r>
              <a:rPr lang="en-US" sz="3116">
                <a:solidFill>
                  <a:srgbClr val="FDEC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IMPLEMENTATION PLAN</a:t>
            </a:r>
            <a:r>
              <a:rPr lang="en-US" sz="3116">
                <a:solidFill>
                  <a:srgbClr val="FDEC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</a:t>
            </a:r>
          </a:p>
          <a:p>
            <a:pPr algn="ctr">
              <a:lnSpc>
                <a:spcPts val="4363"/>
              </a:lnSpc>
            </a:pPr>
            <a:r>
              <a:rPr lang="en-US" sz="3116">
                <a:solidFill>
                  <a:srgbClr val="FDEC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6. Q&amp;A                                                                      </a:t>
            </a:r>
          </a:p>
          <a:p>
            <a:pPr algn="ctr">
              <a:lnSpc>
                <a:spcPts val="436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60945" y="615472"/>
            <a:ext cx="6694094" cy="41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6"/>
              </a:lnSpc>
              <a:spcBef>
                <a:spcPct val="0"/>
              </a:spcBef>
            </a:pPr>
            <a:r>
              <a:rPr lang="en-US" sz="2362">
                <a:solidFill>
                  <a:srgbClr val="767B6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BRIGHT GROUP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465561" y="7364758"/>
            <a:ext cx="3092948" cy="0"/>
          </a:xfrm>
          <a:prstGeom prst="line">
            <a:avLst/>
          </a:prstGeom>
          <a:ln cap="rnd" w="19050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65552" y="5548989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6" y="0"/>
                </a:lnTo>
                <a:lnTo>
                  <a:pt x="996486" y="996486"/>
                </a:lnTo>
                <a:lnTo>
                  <a:pt x="0" y="996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0807" y="3303739"/>
            <a:ext cx="9766387" cy="6483472"/>
          </a:xfrm>
          <a:custGeom>
            <a:avLst/>
            <a:gdLst/>
            <a:ahLst/>
            <a:cxnLst/>
            <a:rect r="r" b="b" t="t" l="l"/>
            <a:pathLst>
              <a:path h="6483472" w="9766387">
                <a:moveTo>
                  <a:pt x="0" y="0"/>
                </a:moveTo>
                <a:lnTo>
                  <a:pt x="9766386" y="0"/>
                </a:lnTo>
                <a:lnTo>
                  <a:pt x="9766386" y="6483472"/>
                </a:lnTo>
                <a:lnTo>
                  <a:pt x="0" y="6483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27" r="0" b="-102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7632" y="1276429"/>
            <a:ext cx="6166506" cy="3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D2500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Analysis I</a:t>
            </a:r>
            <a:r>
              <a:rPr lang="en-US" sz="2100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 Store Location &amp; Month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8191" y="2079647"/>
            <a:ext cx="17665962" cy="82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3"/>
              </a:lnSpc>
              <a:spcBef>
                <a:spcPct val="0"/>
              </a:spcBef>
            </a:pPr>
            <a:r>
              <a:rPr lang="en-US" sz="2345">
                <a:solidFill>
                  <a:srgbClr val="0B0A0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Insights:Revenue across all the stores increase by 50% in the month of June as compared to January.This could be a seasonal change that is influencing the sales                          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67B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401" y="3433450"/>
            <a:ext cx="8153599" cy="5787148"/>
          </a:xfrm>
          <a:custGeom>
            <a:avLst/>
            <a:gdLst/>
            <a:ahLst/>
            <a:cxnLst/>
            <a:rect r="r" b="b" t="t" l="l"/>
            <a:pathLst>
              <a:path h="5787148" w="8153599">
                <a:moveTo>
                  <a:pt x="0" y="0"/>
                </a:moveTo>
                <a:lnTo>
                  <a:pt x="8153599" y="0"/>
                </a:lnTo>
                <a:lnTo>
                  <a:pt x="8153599" y="5787148"/>
                </a:lnTo>
                <a:lnTo>
                  <a:pt x="0" y="5787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34902" y="3433450"/>
            <a:ext cx="6437642" cy="5787148"/>
          </a:xfrm>
          <a:custGeom>
            <a:avLst/>
            <a:gdLst/>
            <a:ahLst/>
            <a:cxnLst/>
            <a:rect r="r" b="b" t="t" l="l"/>
            <a:pathLst>
              <a:path h="5787148" w="6437642">
                <a:moveTo>
                  <a:pt x="0" y="0"/>
                </a:moveTo>
                <a:lnTo>
                  <a:pt x="6437642" y="0"/>
                </a:lnTo>
                <a:lnTo>
                  <a:pt x="6437642" y="5787148"/>
                </a:lnTo>
                <a:lnTo>
                  <a:pt x="0" y="5787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8657" y="1215916"/>
            <a:ext cx="7089321" cy="3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D2500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Analysis I</a:t>
            </a:r>
            <a:r>
              <a:rPr lang="en-US" sz="2100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 Store Location &amp; By time of day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1817" y="1896833"/>
            <a:ext cx="17665962" cy="82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3"/>
              </a:lnSpc>
              <a:spcBef>
                <a:spcPct val="0"/>
              </a:spcBef>
            </a:pPr>
            <a:r>
              <a:rPr lang="en-US" sz="2345">
                <a:solidFill>
                  <a:srgbClr val="0B0A0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Insights:The morning sales contribute 56% of the sales followed by afternoon which contributes 29% of the sales, however the evening contributes the lowest sales.           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8384" y="5628955"/>
            <a:ext cx="821567" cy="821567"/>
          </a:xfrm>
          <a:custGeom>
            <a:avLst/>
            <a:gdLst/>
            <a:ahLst/>
            <a:cxnLst/>
            <a:rect r="r" b="b" t="t" l="l"/>
            <a:pathLst>
              <a:path h="821567" w="821567">
                <a:moveTo>
                  <a:pt x="0" y="0"/>
                </a:moveTo>
                <a:lnTo>
                  <a:pt x="821566" y="0"/>
                </a:lnTo>
                <a:lnTo>
                  <a:pt x="821566" y="821567"/>
                </a:lnTo>
                <a:lnTo>
                  <a:pt x="0" y="82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85464" y="5628955"/>
            <a:ext cx="821567" cy="821567"/>
          </a:xfrm>
          <a:custGeom>
            <a:avLst/>
            <a:gdLst/>
            <a:ahLst/>
            <a:cxnLst/>
            <a:rect r="r" b="b" t="t" l="l"/>
            <a:pathLst>
              <a:path h="821567" w="821567">
                <a:moveTo>
                  <a:pt x="0" y="0"/>
                </a:moveTo>
                <a:lnTo>
                  <a:pt x="821567" y="0"/>
                </a:lnTo>
                <a:lnTo>
                  <a:pt x="821567" y="821567"/>
                </a:lnTo>
                <a:lnTo>
                  <a:pt x="0" y="82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22545" y="5628955"/>
            <a:ext cx="821567" cy="821567"/>
          </a:xfrm>
          <a:custGeom>
            <a:avLst/>
            <a:gdLst/>
            <a:ahLst/>
            <a:cxnLst/>
            <a:rect r="r" b="b" t="t" l="l"/>
            <a:pathLst>
              <a:path h="821567" w="821567">
                <a:moveTo>
                  <a:pt x="0" y="0"/>
                </a:moveTo>
                <a:lnTo>
                  <a:pt x="821567" y="0"/>
                </a:lnTo>
                <a:lnTo>
                  <a:pt x="821567" y="821567"/>
                </a:lnTo>
                <a:lnTo>
                  <a:pt x="0" y="82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3107" y="5628955"/>
            <a:ext cx="821567" cy="821567"/>
          </a:xfrm>
          <a:custGeom>
            <a:avLst/>
            <a:gdLst/>
            <a:ahLst/>
            <a:cxnLst/>
            <a:rect r="r" b="b" t="t" l="l"/>
            <a:pathLst>
              <a:path h="821567" w="821567">
                <a:moveTo>
                  <a:pt x="0" y="0"/>
                </a:moveTo>
                <a:lnTo>
                  <a:pt x="821567" y="0"/>
                </a:lnTo>
                <a:lnTo>
                  <a:pt x="821567" y="821567"/>
                </a:lnTo>
                <a:lnTo>
                  <a:pt x="0" y="82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82352" y="3180776"/>
            <a:ext cx="11301259" cy="5693009"/>
          </a:xfrm>
          <a:custGeom>
            <a:avLst/>
            <a:gdLst/>
            <a:ahLst/>
            <a:cxnLst/>
            <a:rect r="r" b="b" t="t" l="l"/>
            <a:pathLst>
              <a:path h="5693009" w="11301259">
                <a:moveTo>
                  <a:pt x="0" y="0"/>
                </a:moveTo>
                <a:lnTo>
                  <a:pt x="11301259" y="0"/>
                </a:lnTo>
                <a:lnTo>
                  <a:pt x="11301259" y="5693009"/>
                </a:lnTo>
                <a:lnTo>
                  <a:pt x="0" y="56930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5914" y="971550"/>
            <a:ext cx="6166506" cy="3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D2500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Analysis I</a:t>
            </a:r>
            <a:r>
              <a:rPr lang="en-US" sz="2100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 By Product Category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630628"/>
            <a:ext cx="17665962" cy="1216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3"/>
              </a:lnSpc>
              <a:spcBef>
                <a:spcPct val="0"/>
              </a:spcBef>
            </a:pPr>
            <a:r>
              <a:rPr lang="en-US" sz="2345">
                <a:solidFill>
                  <a:srgbClr val="0B0A0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Insights: </a:t>
            </a:r>
            <a:r>
              <a:rPr lang="en-US" b="true" sz="2345">
                <a:solidFill>
                  <a:srgbClr val="0B0A0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Coffee</a:t>
            </a:r>
            <a:r>
              <a:rPr lang="en-US" sz="2345">
                <a:solidFill>
                  <a:srgbClr val="0B0A0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generates roughly </a:t>
            </a:r>
            <a:r>
              <a:rPr lang="en-US" b="true" sz="2345">
                <a:solidFill>
                  <a:srgbClr val="0B0A0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39%</a:t>
            </a:r>
            <a:r>
              <a:rPr lang="en-US" sz="2345">
                <a:solidFill>
                  <a:srgbClr val="0B0A0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of total revenue, totaling $263,619.10.Combined with </a:t>
            </a:r>
            <a:r>
              <a:rPr lang="en-US" b="true" sz="2345">
                <a:solidFill>
                  <a:srgbClr val="0B0A0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Tea, </a:t>
            </a:r>
            <a:r>
              <a:rPr lang="en-US" sz="2345">
                <a:solidFill>
                  <a:srgbClr val="0B0A0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which contributes $194,993.95, these categories alone drive nearly 68% of all revenue, making this fundamentally a hot beverages business. </a:t>
            </a:r>
            <a:r>
              <a:rPr lang="en-US" b="true" sz="2345">
                <a:solidFill>
                  <a:srgbClr val="0B0A0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Bakery</a:t>
            </a:r>
            <a:r>
              <a:rPr lang="en-US" sz="2345">
                <a:solidFill>
                  <a:srgbClr val="0B0A0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comes in at number three, racking in $81,981.89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67B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82352" y="2701554"/>
            <a:ext cx="11301259" cy="6159186"/>
          </a:xfrm>
          <a:custGeom>
            <a:avLst/>
            <a:gdLst/>
            <a:ahLst/>
            <a:cxnLst/>
            <a:rect r="r" b="b" t="t" l="l"/>
            <a:pathLst>
              <a:path h="6159186" w="11301259">
                <a:moveTo>
                  <a:pt x="0" y="0"/>
                </a:moveTo>
                <a:lnTo>
                  <a:pt x="11301259" y="0"/>
                </a:lnTo>
                <a:lnTo>
                  <a:pt x="11301259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914" y="971550"/>
            <a:ext cx="6166506" cy="3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D2500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Analysis I</a:t>
            </a:r>
            <a:r>
              <a:rPr lang="en-US" sz="2100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 Using Time Buckets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630628"/>
            <a:ext cx="17665962" cy="80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3"/>
              </a:lnSpc>
              <a:spcBef>
                <a:spcPct val="0"/>
              </a:spcBef>
            </a:pPr>
            <a:r>
              <a:rPr lang="en-US" sz="2345">
                <a:solidFill>
                  <a:srgbClr val="0B0A0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Insights: Every month, the most sales happen in the morning, meaning most of the revenue is generated before the afternoon, and the least sales happen in the evening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00711" y="3103074"/>
            <a:ext cx="9740285" cy="5649750"/>
          </a:xfrm>
          <a:custGeom>
            <a:avLst/>
            <a:gdLst/>
            <a:ahLst/>
            <a:cxnLst/>
            <a:rect r="r" b="b" t="t" l="l"/>
            <a:pathLst>
              <a:path h="5649750" w="9740285">
                <a:moveTo>
                  <a:pt x="0" y="0"/>
                </a:moveTo>
                <a:lnTo>
                  <a:pt x="9740285" y="0"/>
                </a:lnTo>
                <a:lnTo>
                  <a:pt x="9740285" y="5649749"/>
                </a:lnTo>
                <a:lnTo>
                  <a:pt x="0" y="5649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97" r="0" b="-359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914" y="971550"/>
            <a:ext cx="6166506" cy="3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D2500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Analysis I</a:t>
            </a:r>
            <a:r>
              <a:rPr lang="en-US" sz="2100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 By Store location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630628"/>
            <a:ext cx="17665962" cy="39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3"/>
              </a:lnSpc>
              <a:spcBef>
                <a:spcPct val="0"/>
              </a:spcBef>
            </a:pPr>
            <a:r>
              <a:rPr lang="en-US" sz="2345">
                <a:solidFill>
                  <a:srgbClr val="0B0A0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Insights: The store that generates the most revenue is Hell's Kitchen followed by Astoria then lastly Lower Manhattan                                                                     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D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304985" y="1765899"/>
            <a:ext cx="16313398" cy="1954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3"/>
              </a:lnSpc>
              <a:spcBef>
                <a:spcPct val="0"/>
              </a:spcBef>
            </a:pPr>
            <a:r>
              <a:rPr lang="en-US" sz="3666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   1. </a:t>
            </a:r>
            <a:r>
              <a:rPr lang="en-US" sz="3666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Marketing campaigns during slow time slots </a:t>
            </a:r>
          </a:p>
          <a:p>
            <a:pPr algn="just" marL="791655" indent="-395827" lvl="1">
              <a:lnSpc>
                <a:spcPts val="5133"/>
              </a:lnSpc>
              <a:spcBef>
                <a:spcPct val="0"/>
              </a:spcBef>
              <a:buAutoNum type="arabicPeriod" startAt="1"/>
            </a:pPr>
            <a:r>
              <a:rPr lang="en-US" sz="3666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Stock up on our top-selling items.</a:t>
            </a:r>
          </a:p>
          <a:p>
            <a:pPr algn="just" marL="791655" indent="-395827" lvl="1">
              <a:lnSpc>
                <a:spcPts val="5133"/>
              </a:lnSpc>
              <a:spcBef>
                <a:spcPct val="0"/>
              </a:spcBef>
              <a:buAutoNum type="arabicPeriod" startAt="1"/>
            </a:pPr>
            <a:r>
              <a:rPr lang="en-US" sz="3666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Promote underperforming products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8314" y="1104900"/>
            <a:ext cx="6166506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5D2500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8314" y="4749166"/>
            <a:ext cx="6166506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5D2500"/>
                </a:solidFill>
                <a:latin typeface="Poppins Bold"/>
                <a:ea typeface="Poppins Bold"/>
                <a:cs typeface="Poppins Bold"/>
                <a:sym typeface="Poppins Bold"/>
              </a:rPr>
              <a:t>Other steps to be taken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408931"/>
            <a:ext cx="15703428" cy="1954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3"/>
              </a:lnSpc>
            </a:pPr>
            <a:r>
              <a:rPr lang="en-US" sz="3666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1.  Automate daily sales reporting</a:t>
            </a:r>
          </a:p>
          <a:p>
            <a:pPr algn="l">
              <a:lnSpc>
                <a:spcPts val="5133"/>
              </a:lnSpc>
            </a:pPr>
            <a:r>
              <a:rPr lang="en-US" sz="3666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2. Track sales performance across multiple locations in the future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666">
                <a:solidFill>
                  <a:srgbClr val="5D2500"/>
                </a:solidFill>
                <a:latin typeface="Poppins"/>
                <a:ea typeface="Poppins"/>
                <a:cs typeface="Poppins"/>
                <a:sym typeface="Poppins"/>
              </a:rPr>
              <a:t>3.Implement loyalty programs based on peak customer time slots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DAHFDUBbhhY</dc:identifier>
  <dcterms:modified xsi:type="dcterms:W3CDTF">2011-08-01T06:04:30Z</dcterms:modified>
  <cp:revision>1</cp:revision>
  <dc:title>Brown White and Green Modern Coffee Pitch Deck Presentation</dc:title>
</cp:coreProperties>
</file>